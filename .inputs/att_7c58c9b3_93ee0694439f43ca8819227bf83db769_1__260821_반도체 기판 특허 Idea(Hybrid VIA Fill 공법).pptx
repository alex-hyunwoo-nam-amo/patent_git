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859" r:id="rId2"/>
    <p:sldId id="958" r:id="rId3"/>
    <p:sldId id="959" r:id="rId4"/>
    <p:sldId id="961" r:id="rId5"/>
    <p:sldId id="948" r:id="rId6"/>
    <p:sldId id="955" r:id="rId7"/>
    <p:sldId id="956" r:id="rId8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지형" initials="이" lastIdx="1" clrIdx="0">
    <p:extLst>
      <p:ext uri="{19B8F6BF-5375-455C-9EA6-DF929625EA0E}">
        <p15:presenceInfo xmlns:p15="http://schemas.microsoft.com/office/powerpoint/2012/main" userId="S-1-5-21-1831129981-408258415-1320385911-14136" providerId="AD"/>
      </p:ext>
    </p:extLst>
  </p:cmAuthor>
  <p:cmAuthor id="2" name="성백 단" initials="성단" lastIdx="1" clrIdx="1">
    <p:extLst>
      <p:ext uri="{19B8F6BF-5375-455C-9EA6-DF929625EA0E}">
        <p15:presenceInfo xmlns:p15="http://schemas.microsoft.com/office/powerpoint/2012/main" userId="성백 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0000FF"/>
    <a:srgbClr val="FF00FF"/>
    <a:srgbClr val="0000CC"/>
    <a:srgbClr val="FFFFCC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94618" autoAdjust="0"/>
  </p:normalViewPr>
  <p:slideViewPr>
    <p:cSldViewPr snapToGrid="0">
      <p:cViewPr varScale="1">
        <p:scale>
          <a:sx n="125" d="100"/>
          <a:sy n="125" d="100"/>
        </p:scale>
        <p:origin x="1550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9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57E4A-A016-4978-88A7-639254D0E172}" type="datetimeFigureOut">
              <a:rPr lang="ko-KR" altLang="en-US" smtClean="0"/>
              <a:pPr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9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B70D-C7DB-4B55-AD05-CCEBBCAAEA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4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</a:t>
            </a:fld>
            <a:endParaRPr kumimoji="0"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21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86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59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4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319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329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6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023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7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53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36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55" y="64133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6C2CC-1A3F-442A-B9E2-D3FC02DEDDD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02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6467135" y="269289"/>
            <a:ext cx="246435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World First, World Best. !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</a:t>
            </a: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 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5" name="그림 3" descr="image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923793" y="4771708"/>
            <a:ext cx="1684918" cy="79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F6F2-12AE-4BE1-BD37-11B5C0C7BC33}"/>
              </a:ext>
            </a:extLst>
          </p:cNvPr>
          <p:cNvSpPr txBox="1"/>
          <p:nvPr/>
        </p:nvSpPr>
        <p:spPr>
          <a:xfrm>
            <a:off x="8718287" y="65265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D7E2AD-7AED-4AD5-BED7-1387CFD65C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5000"/>
                    </a14:imgEffect>
                  </a14:imgLayer>
                </a14:imgProps>
              </a:ext>
            </a:extLst>
          </a:blip>
          <a:srcRect l="37770" r="1"/>
          <a:stretch/>
        </p:blipFill>
        <p:spPr>
          <a:xfrm>
            <a:off x="77266" y="607427"/>
            <a:ext cx="6024694" cy="5887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DD29C5-7F01-4293-9A43-9FBDCF66A9EA}"/>
              </a:ext>
            </a:extLst>
          </p:cNvPr>
          <p:cNvSpPr txBox="1"/>
          <p:nvPr/>
        </p:nvSpPr>
        <p:spPr>
          <a:xfrm>
            <a:off x="6912529" y="5729681"/>
            <a:ext cx="1670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2026. 08.21(</a:t>
            </a:r>
            <a:r>
              <a:rPr lang="ko-KR" altLang="en-US" b="1" dirty="0">
                <a:solidFill>
                  <a:schemeClr val="bg1"/>
                </a:solidFill>
              </a:rPr>
              <a:t>금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b="1" dirty="0">
                <a:solidFill>
                  <a:schemeClr val="bg1"/>
                </a:solidFill>
              </a:rPr>
              <a:t>작성자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b="1" dirty="0">
                <a:solidFill>
                  <a:schemeClr val="bg1"/>
                </a:solidFill>
              </a:rPr>
              <a:t>이사 단성백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212F3-DCFD-4274-AE1E-7B78F49C3156}"/>
              </a:ext>
            </a:extLst>
          </p:cNvPr>
          <p:cNvSpPr txBox="1"/>
          <p:nvPr/>
        </p:nvSpPr>
        <p:spPr>
          <a:xfrm>
            <a:off x="3519333" y="1393794"/>
            <a:ext cx="55304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</a:rPr>
              <a:t>고종횡비</a:t>
            </a:r>
            <a:r>
              <a:rPr lang="ko-KR" altLang="en-US" sz="2800" b="1" dirty="0">
                <a:solidFill>
                  <a:schemeClr val="bg1"/>
                </a:solidFill>
              </a:rPr>
              <a:t> 관통 비아의 </a:t>
            </a:r>
            <a:r>
              <a:rPr lang="ko-KR" altLang="en-US" sz="2800" b="1" dirty="0" err="1">
                <a:solidFill>
                  <a:schemeClr val="bg1"/>
                </a:solidFill>
              </a:rPr>
              <a:t>스퍼터링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 err="1">
                <a:solidFill>
                  <a:schemeClr val="bg1"/>
                </a:solidFill>
              </a:rPr>
              <a:t>무전해</a:t>
            </a:r>
            <a:r>
              <a:rPr lang="ko-KR" altLang="en-US" sz="2800" b="1" dirty="0">
                <a:solidFill>
                  <a:schemeClr val="bg1"/>
                </a:solidFill>
              </a:rPr>
              <a:t> 도금 및 전해 도금을 이용한 하이브리드 구리 충진 방법</a:t>
            </a:r>
            <a:endParaRPr lang="en-US" altLang="ko-KR" sz="2800" b="1" dirty="0"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9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1DE312-7726-4641-9ACC-A99760660477}"/>
              </a:ext>
            </a:extLst>
          </p:cNvPr>
          <p:cNvSpPr/>
          <p:nvPr/>
        </p:nvSpPr>
        <p:spPr>
          <a:xfrm>
            <a:off x="152400" y="1102041"/>
            <a:ext cx="8657620" cy="5458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요약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본 발명은 유리기판의 </a:t>
            </a:r>
            <a:r>
              <a:rPr lang="en-US" altLang="ko-KR" sz="1200" dirty="0">
                <a:latin typeface="+mn-ea"/>
              </a:rPr>
              <a:t>TGV(Through Glass Via) </a:t>
            </a:r>
            <a:r>
              <a:rPr lang="ko-KR" altLang="en-US" sz="1200" dirty="0">
                <a:latin typeface="+mn-ea"/>
              </a:rPr>
              <a:t>또는 세라믹기판의 </a:t>
            </a:r>
            <a:r>
              <a:rPr lang="en-US" altLang="ko-KR" sz="1200" dirty="0">
                <a:latin typeface="+mn-ea"/>
              </a:rPr>
              <a:t>TCV(Through Ceramic Via)</a:t>
            </a:r>
            <a:r>
              <a:rPr lang="ko-KR" altLang="en-US" sz="1200" dirty="0">
                <a:latin typeface="+mn-ea"/>
              </a:rPr>
              <a:t>에 구리를 </a:t>
            </a:r>
            <a:r>
              <a:rPr lang="ko-KR" altLang="en-US" sz="1200" dirty="0" err="1">
                <a:latin typeface="+mn-ea"/>
              </a:rPr>
              <a:t>충진하여</a:t>
            </a:r>
            <a:r>
              <a:rPr lang="ko-KR" altLang="en-US" sz="1200" dirty="0">
                <a:latin typeface="+mn-ea"/>
              </a:rPr>
              <a:t> 전기적 도통 구조를 형성하는 방법에 관한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유리와 세라믹은 전기적으로 부도체이므로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이용하여 비아를 충진하기 위해서는 먼저 비아 내벽에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형성해야 한다</a:t>
            </a:r>
            <a:r>
              <a:rPr lang="en-US" altLang="ko-KR" sz="1200" dirty="0">
                <a:latin typeface="+mn-ea"/>
              </a:rPr>
              <a:t>.  </a:t>
            </a:r>
            <a:r>
              <a:rPr lang="ko-KR" altLang="en-US" sz="1200" dirty="0">
                <a:latin typeface="+mn-ea"/>
              </a:rPr>
              <a:t>종래에는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이용하여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형성하고 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유리 또는 세라믹과의 </a:t>
            </a:r>
            <a:r>
              <a:rPr lang="ko-KR" altLang="en-US" sz="1200" dirty="0" err="1">
                <a:latin typeface="+mn-ea"/>
              </a:rPr>
              <a:t>계면접착력이</a:t>
            </a:r>
            <a:r>
              <a:rPr lang="ko-KR" altLang="en-US" sz="1200" dirty="0">
                <a:latin typeface="+mn-ea"/>
              </a:rPr>
              <a:t> 상대적으로 낮고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증착 방향의 </a:t>
            </a:r>
            <a:r>
              <a:rPr lang="ko-KR" altLang="en-US" sz="1200" dirty="0" err="1">
                <a:latin typeface="+mn-ea"/>
              </a:rPr>
              <a:t>직진성</a:t>
            </a:r>
            <a:r>
              <a:rPr lang="ko-KR" altLang="en-US" sz="1200" dirty="0">
                <a:latin typeface="+mn-ea"/>
              </a:rPr>
              <a:t> 및 비아 입구의 </a:t>
            </a:r>
            <a:r>
              <a:rPr lang="ko-KR" altLang="en-US" sz="1200" dirty="0" err="1">
                <a:latin typeface="+mn-ea"/>
              </a:rPr>
              <a:t>새도우</a:t>
            </a:r>
            <a:r>
              <a:rPr lang="ko-KR" altLang="en-US" sz="1200" dirty="0">
                <a:latin typeface="+mn-ea"/>
              </a:rPr>
              <a:t> 현상으로 인해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 금속층이 충분히 형성되지 않는 문제점이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latin typeface="+mn-ea"/>
              </a:rPr>
              <a:t>본 발명에서는 비아 내벽에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</a:t>
            </a:r>
            <a:r>
              <a:rPr lang="ko-KR" altLang="en-US" sz="1200" b="1" u="sng" dirty="0">
                <a:latin typeface="+mn-ea"/>
              </a:rPr>
              <a:t>층을 먼저 </a:t>
            </a:r>
            <a:r>
              <a:rPr lang="ko-KR" altLang="en-US" sz="1200" b="1" u="sng" dirty="0" err="1">
                <a:latin typeface="+mn-ea"/>
              </a:rPr>
              <a:t>스퍼터링하여</a:t>
            </a:r>
            <a:r>
              <a:rPr lang="ko-KR" altLang="en-US" sz="1200" b="1" u="sng" dirty="0">
                <a:latin typeface="+mn-ea"/>
              </a:rPr>
              <a:t>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계면접착력을</a:t>
            </a:r>
            <a:r>
              <a:rPr lang="ko-KR" altLang="en-US" sz="1200" b="1" u="sng" dirty="0">
                <a:latin typeface="+mn-ea"/>
              </a:rPr>
              <a:t> 확보하고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연속적인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형성되지 않은 비아 중앙영역을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보완한다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이후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층에 의해 형성된 연속적인 복합 </a:t>
            </a:r>
            <a:r>
              <a:rPr lang="ko-KR" altLang="en-US" sz="1200" b="1" u="sng" dirty="0" err="1">
                <a:latin typeface="+mn-ea"/>
              </a:rPr>
              <a:t>씨드층을</a:t>
            </a:r>
            <a:r>
              <a:rPr lang="ko-KR" altLang="en-US" sz="1200" b="1" u="sng" dirty="0">
                <a:latin typeface="+mn-ea"/>
              </a:rPr>
              <a:t> 이용하여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완전히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특히 </a:t>
            </a:r>
            <a:r>
              <a:rPr lang="ko-KR" altLang="en-US" sz="1200" dirty="0" err="1">
                <a:latin typeface="+mn-ea"/>
              </a:rPr>
              <a:t>스퍼터링에</a:t>
            </a:r>
            <a:r>
              <a:rPr lang="ko-KR" altLang="en-US" sz="1200" dirty="0">
                <a:latin typeface="+mn-ea"/>
              </a:rPr>
              <a:t> 의해 비아 중앙부에 연속적인 금속막이 형성되지 않더라도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중앙부 표면에는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비연속적인 금속 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극박막</a:t>
            </a:r>
            <a:r>
              <a:rPr lang="ko-KR" altLang="en-US" sz="1200" dirty="0">
                <a:latin typeface="+mn-ea"/>
              </a:rPr>
              <a:t> 또는 표면 활성영역이 형성될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영역은 </a:t>
            </a:r>
            <a:r>
              <a:rPr lang="ko-KR" altLang="en-US" sz="1200" b="1" u="sng" dirty="0">
                <a:latin typeface="+mn-ea"/>
              </a:rPr>
              <a:t>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도금에서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핵생성과 성장을 촉진하여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층의 연속성과 접착력을 향상시킬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이에 따라 본 발명은 </a:t>
            </a:r>
            <a:r>
              <a:rPr lang="ko-KR" altLang="en-US" sz="1200" b="1" u="sng" dirty="0" err="1">
                <a:latin typeface="+mn-ea"/>
              </a:rPr>
              <a:t>스퍼터링의</a:t>
            </a:r>
            <a:r>
              <a:rPr lang="ko-KR" altLang="en-US" sz="1200" b="1" u="sng" dirty="0">
                <a:latin typeface="+mn-ea"/>
              </a:rPr>
              <a:t> 우수한 </a:t>
            </a:r>
            <a:r>
              <a:rPr lang="ko-KR" altLang="en-US" sz="1200" b="1" u="sng" dirty="0" err="1">
                <a:latin typeface="+mn-ea"/>
              </a:rPr>
              <a:t>계면접착</a:t>
            </a:r>
            <a:r>
              <a:rPr lang="ko-KR" altLang="en-US" sz="1200" b="1" u="sng" dirty="0">
                <a:latin typeface="+mn-ea"/>
              </a:rPr>
              <a:t> 특성과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도금의 우수한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피복 특성을 결합하고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최종적으로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·</a:t>
            </a:r>
            <a:r>
              <a:rPr lang="ko-KR" altLang="en-US" sz="1200" b="1" u="sng" dirty="0">
                <a:latin typeface="+mn-ea"/>
              </a:rPr>
              <a:t>고신뢰성의 </a:t>
            </a:r>
            <a:r>
              <a:rPr lang="en-US" altLang="ko-KR" sz="1200" b="1" u="sng" dirty="0">
                <a:latin typeface="+mn-ea"/>
              </a:rPr>
              <a:t>TGV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TCV </a:t>
            </a:r>
            <a:r>
              <a:rPr lang="ko-KR" altLang="en-US" sz="1200" b="1" u="sng" dirty="0">
                <a:latin typeface="+mn-ea"/>
              </a:rPr>
              <a:t>구조를 형성하는 것을 특징</a:t>
            </a:r>
            <a:r>
              <a:rPr lang="ko-KR" altLang="en-US" sz="1200" dirty="0">
                <a:latin typeface="+mn-ea"/>
              </a:rPr>
              <a:t>으로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907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개념도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8F5D7-1B11-46CE-AD17-6BF33E18D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3" y="1104168"/>
            <a:ext cx="7839456" cy="54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1D05FF-0E2C-4826-8B34-53869D600A7B}"/>
              </a:ext>
            </a:extLst>
          </p:cNvPr>
          <p:cNvSpPr/>
          <p:nvPr/>
        </p:nvSpPr>
        <p:spPr>
          <a:xfrm>
            <a:off x="57150" y="1083865"/>
            <a:ext cx="891136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발명의 명칭</a:t>
            </a:r>
            <a:endParaRPr lang="en-US" altLang="ko-KR" b="1" dirty="0"/>
          </a:p>
          <a:p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고종횡비</a:t>
            </a:r>
            <a:r>
              <a:rPr lang="ko-KR" altLang="en-US" sz="1600" b="1" dirty="0"/>
              <a:t> 관통 비아의 </a:t>
            </a:r>
            <a:r>
              <a:rPr lang="ko-KR" altLang="en-US" sz="1600" b="1" dirty="0" err="1"/>
              <a:t>스퍼터링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무전해</a:t>
            </a:r>
            <a:r>
              <a:rPr lang="ko-KR" altLang="en-US" sz="1600" b="1" dirty="0"/>
              <a:t> 도금 및 전해 도금을 이용한 하이브리드 구리 충진 방법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AB2EC8-9D5F-4F52-B99A-EFF777E4255B}"/>
              </a:ext>
            </a:extLst>
          </p:cNvPr>
          <p:cNvSpPr/>
          <p:nvPr/>
        </p:nvSpPr>
        <p:spPr>
          <a:xfrm>
            <a:off x="70189" y="1730890"/>
            <a:ext cx="8628981" cy="4987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기술적 과제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유리 또는 세라믹 비아를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도금으로 충진하기 위해서는 비아의 상부에서 하부까지 전기적으로 연결된 연속적인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필요하다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액상의 도금액과 촉매가 </a:t>
            </a:r>
            <a:r>
              <a:rPr lang="ko-KR" altLang="en-US" sz="1200" b="1" u="sng" dirty="0">
                <a:latin typeface="+mn-ea"/>
              </a:rPr>
              <a:t>비아 내부로 침투하므로 깊은 비아의 중앙부까지 금속층을 형성할 수 있다는 장점</a:t>
            </a:r>
            <a:r>
              <a:rPr lang="ko-KR" altLang="en-US" sz="1200" dirty="0">
                <a:latin typeface="+mn-ea"/>
              </a:rPr>
              <a:t>이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유리 또는 세라믹 표면에 직접 형성된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금속과 무기질 기판 사이의 </a:t>
            </a:r>
            <a:r>
              <a:rPr lang="ko-KR" altLang="en-US" sz="1200" dirty="0" err="1">
                <a:latin typeface="+mn-ea"/>
              </a:rPr>
              <a:t>계면결합력이</a:t>
            </a:r>
            <a:r>
              <a:rPr lang="ko-KR" altLang="en-US" sz="1200" dirty="0">
                <a:latin typeface="+mn-ea"/>
              </a:rPr>
              <a:t> 충분하지 않을 수 있으며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열처리</a:t>
            </a:r>
            <a:r>
              <a:rPr lang="en-US" altLang="ko-KR" sz="1200" dirty="0">
                <a:latin typeface="+mn-ea"/>
              </a:rPr>
              <a:t>, CMP </a:t>
            </a:r>
            <a:r>
              <a:rPr lang="ko-KR" altLang="en-US" sz="1200" dirty="0">
                <a:latin typeface="+mn-ea"/>
              </a:rPr>
              <a:t>및 열사이클 과정에서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박리나 계면저항 증가가 발생할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스퍼터링은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층이 유리 또는 세라믹과 강하게 결합하고 그 위의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전해 도금용 전극으로 작용하므로 </a:t>
            </a:r>
            <a:r>
              <a:rPr lang="ko-KR" altLang="en-US" sz="1200" b="1" u="sng" dirty="0" err="1">
                <a:latin typeface="+mn-ea"/>
              </a:rPr>
              <a:t>계면접착력</a:t>
            </a:r>
            <a:r>
              <a:rPr lang="ko-KR" altLang="en-US" sz="1200" b="1" u="sng" dirty="0">
                <a:latin typeface="+mn-ea"/>
              </a:rPr>
              <a:t> 측면에서 유리</a:t>
            </a:r>
            <a:r>
              <a:rPr lang="ko-KR" altLang="en-US" sz="1200" dirty="0">
                <a:latin typeface="+mn-ea"/>
              </a:rPr>
              <a:t>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증착물질이</a:t>
            </a:r>
            <a:r>
              <a:rPr lang="ko-KR" altLang="en-US" sz="1200" dirty="0">
                <a:latin typeface="+mn-ea"/>
              </a:rPr>
              <a:t> 직선에 가까운 경로로 이동하기 때문에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증가하면 비아 입구에 가까운 영역에는 비교적 두꺼운 금속층이 형성되는 반면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중앙부에는 금속층이 얇거나 불연속적으로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발명에서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기판 두께 또는 비아 깊이 </a:t>
            </a:r>
            <a:r>
              <a:rPr lang="en-US" altLang="ko-KR" sz="1200" dirty="0">
                <a:latin typeface="+mn-ea"/>
              </a:rPr>
              <a:t>T</a:t>
            </a:r>
            <a:r>
              <a:rPr lang="ko-KR" altLang="en-US" sz="1200" dirty="0">
                <a:latin typeface="+mn-ea"/>
              </a:rPr>
              <a:t>를 비아의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en-US" altLang="ko-KR" sz="1200" dirty="0">
                <a:latin typeface="+mn-ea"/>
              </a:rPr>
              <a:t>​</a:t>
            </a:r>
            <a:r>
              <a:rPr lang="ko-KR" altLang="en-US" sz="1200" dirty="0">
                <a:latin typeface="+mn-ea"/>
              </a:rPr>
              <a:t>으로 나눈 값으로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AR=​T/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ko-KR" altLang="en-US" sz="1200" dirty="0">
                <a:latin typeface="+mn-ea"/>
              </a:rPr>
              <a:t>의</a:t>
            </a:r>
            <a:r>
              <a:rPr lang="en-US" altLang="ko-KR" sz="1200" dirty="0">
                <a:latin typeface="+mn-ea"/>
              </a:rPr>
              <a:t>​ Aspect Ratio</a:t>
            </a:r>
            <a:r>
              <a:rPr lang="ko-KR" altLang="en-US" sz="1200" dirty="0">
                <a:latin typeface="+mn-ea"/>
              </a:rPr>
              <a:t>가 약 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미만인 경우에는 양면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통해 비아 중앙부까지 비교적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>
                <a:latin typeface="+mn-ea"/>
              </a:rPr>
              <a:t>이상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미만인 경우에는 중앙부의 </a:t>
            </a:r>
            <a:r>
              <a:rPr lang="ko-KR" altLang="en-US" sz="1200" b="1" u="sng" dirty="0" err="1">
                <a:latin typeface="+mn-ea"/>
              </a:rPr>
              <a:t>스퍼터층</a:t>
            </a:r>
            <a:r>
              <a:rPr lang="ko-KR" altLang="en-US" sz="1200" b="1" u="sng" dirty="0">
                <a:latin typeface="+mn-ea"/>
              </a:rPr>
              <a:t> 두께가 감소하거나 국부적인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영역이 발생할 수 있으므로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스퍼터층의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박막부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핀홀</a:t>
            </a:r>
            <a:r>
              <a:rPr lang="ko-KR" altLang="en-US" sz="1200" b="1" u="sng" dirty="0">
                <a:latin typeface="+mn-ea"/>
              </a:rPr>
              <a:t> 및 불연속 영역을 보완</a:t>
            </a:r>
            <a:r>
              <a:rPr lang="ko-KR" altLang="en-US" sz="1200" dirty="0">
                <a:latin typeface="+mn-ea"/>
              </a:rPr>
              <a:t>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특히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이상인 경우</a:t>
            </a:r>
            <a:r>
              <a:rPr lang="ko-KR" altLang="en-US" sz="1200" dirty="0">
                <a:latin typeface="+mn-ea"/>
              </a:rPr>
              <a:t>에는 비아 중앙부의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피복률이</a:t>
            </a:r>
            <a:r>
              <a:rPr lang="ko-KR" altLang="en-US" sz="1200" dirty="0">
                <a:latin typeface="+mn-ea"/>
              </a:rPr>
              <a:t> 입구 부분과 비교하여 </a:t>
            </a:r>
            <a:r>
              <a:rPr lang="en-US" altLang="ko-KR" sz="1200" dirty="0">
                <a:latin typeface="+mn-ea"/>
              </a:rPr>
              <a:t>20% </a:t>
            </a:r>
            <a:r>
              <a:rPr lang="ko-KR" altLang="en-US" sz="1200" dirty="0">
                <a:latin typeface="+mn-ea"/>
              </a:rPr>
              <a:t>미만으로 감소하거나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전기적으로 단절될 가능성이 커지므로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 및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도금의 </a:t>
            </a:r>
            <a:r>
              <a:rPr lang="en-US" altLang="ko-KR" sz="1200" b="1" u="sng" dirty="0">
                <a:latin typeface="+mn-ea"/>
              </a:rPr>
              <a:t>3</a:t>
            </a:r>
            <a:r>
              <a:rPr lang="ko-KR" altLang="en-US" sz="1200" b="1" u="sng" dirty="0">
                <a:latin typeface="+mn-ea"/>
              </a:rPr>
              <a:t>단 하이브리드 공정을 적용하는 것이 바람직하다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따라서 본 발명의 기술적 과제는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 </a:t>
            </a:r>
            <a:r>
              <a:rPr lang="ko-KR" altLang="en-US" sz="1200" dirty="0" err="1">
                <a:latin typeface="+mn-ea"/>
              </a:rPr>
              <a:t>스퍼터링만으로</a:t>
            </a:r>
            <a:r>
              <a:rPr lang="ko-KR" altLang="en-US" sz="1200" dirty="0">
                <a:latin typeface="+mn-ea"/>
              </a:rPr>
              <a:t>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형성하기 어려운 문제와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낮은 </a:t>
            </a:r>
            <a:r>
              <a:rPr lang="ko-KR" altLang="en-US" sz="1200" dirty="0" err="1">
                <a:latin typeface="+mn-ea"/>
              </a:rPr>
              <a:t>계면접착</a:t>
            </a:r>
            <a:r>
              <a:rPr lang="ko-KR" altLang="en-US" sz="1200" dirty="0">
                <a:latin typeface="+mn-ea"/>
              </a:rPr>
              <a:t> 문제를 동시에 해결하고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비아의 형상과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에 따라 최적화된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데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08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4DA999-60C9-4B63-BB6E-5ABB3B529420}"/>
              </a:ext>
            </a:extLst>
          </p:cNvPr>
          <p:cNvSpPr/>
          <p:nvPr/>
        </p:nvSpPr>
        <p:spPr>
          <a:xfrm>
            <a:off x="172974" y="1093607"/>
            <a:ext cx="8799491" cy="57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발명의 구성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 따른 관통 비아의 구리 충진 방법은 비아 형성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표면 </a:t>
            </a:r>
            <a:r>
              <a:rPr lang="ko-KR" altLang="en-US" sz="1200" dirty="0" err="1">
                <a:latin typeface="+mn-ea"/>
              </a:rPr>
              <a:t>전처리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단계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단계로 구성된다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먼저 유리기판 또는 세라믹기판에 레이저 가공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에칭</a:t>
            </a:r>
            <a:r>
              <a:rPr lang="ko-KR" altLang="en-US" sz="1200" dirty="0">
                <a:latin typeface="+mn-ea"/>
              </a:rPr>
              <a:t> 또는 기계적 가공을 이용하여 관통 비아를 형성한다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비아는 </a:t>
            </a:r>
            <a:r>
              <a:rPr lang="ko-KR" altLang="en-US" sz="1200" dirty="0" err="1">
                <a:latin typeface="+mn-ea"/>
              </a:rPr>
              <a:t>직벽형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또는 중앙부의 직경이 작은 버터플라이형으로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비아가 형성된 기판은 세정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디스미어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플라즈마 처리 또는 화학적 표면처리를 통해 비아 가공 과정에서 발생한 잔류물과 오염물질을 제거한다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전처리는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계면접착력과</a:t>
            </a:r>
            <a:r>
              <a:rPr lang="ko-KR" altLang="en-US" sz="1200" dirty="0">
                <a:latin typeface="+mn-ea"/>
              </a:rPr>
              <a:t> 후속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촉매의 흡착성을 향상시키는 역할을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>
                <a:latin typeface="+mn-ea"/>
              </a:rPr>
              <a:t>이후 기판의 일면 또는 양면에서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를 순차적으로 </a:t>
            </a:r>
            <a:r>
              <a:rPr lang="ko-KR" altLang="en-US" sz="1200" b="1" u="sng" dirty="0" err="1">
                <a:latin typeface="+mn-ea"/>
              </a:rPr>
              <a:t>스퍼터링한다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접착층</a:t>
            </a:r>
            <a:r>
              <a:rPr lang="ko-KR" altLang="en-US" sz="1200" b="1" u="sng" dirty="0">
                <a:latin typeface="+mn-ea"/>
              </a:rPr>
              <a:t> 또는 확산방지층으로 작용하고</a:t>
            </a:r>
            <a:r>
              <a:rPr lang="en-US" altLang="ko-KR" sz="1200" b="1" u="sng" dirty="0">
                <a:latin typeface="+mn-ea"/>
              </a:rPr>
              <a:t>, Cu</a:t>
            </a:r>
            <a:r>
              <a:rPr lang="ko-KR" altLang="en-US" sz="1200" b="1" u="sng" dirty="0">
                <a:latin typeface="+mn-ea"/>
              </a:rPr>
              <a:t>층은 후속 전해 도금을 위한 </a:t>
            </a:r>
            <a:r>
              <a:rPr lang="ko-KR" altLang="en-US" sz="1200" b="1" u="sng" dirty="0" err="1">
                <a:latin typeface="+mn-ea"/>
              </a:rPr>
              <a:t>씨드층으로</a:t>
            </a:r>
            <a:r>
              <a:rPr lang="ko-KR" altLang="en-US" sz="1200" b="1" u="sng" dirty="0">
                <a:latin typeface="+mn-ea"/>
              </a:rPr>
              <a:t> 작용한다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10~500 nm,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30~200 nm</a:t>
            </a:r>
            <a:r>
              <a:rPr lang="ko-KR" altLang="en-US" sz="1200" b="1" u="sng" dirty="0">
                <a:latin typeface="+mn-ea"/>
              </a:rPr>
              <a:t>의 두께로 형성하고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50 nm~2 </a:t>
            </a:r>
            <a:r>
              <a:rPr lang="en-US" altLang="ko-KR" sz="1200" b="1" u="sng" dirty="0" err="1">
                <a:latin typeface="+mn-ea"/>
              </a:rPr>
              <a:t>μm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100~1,000 nm</a:t>
            </a:r>
            <a:r>
              <a:rPr lang="ko-KR" altLang="en-US" sz="1200" b="1" u="sng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실시하는 경우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 err="1">
                <a:latin typeface="+mn-ea"/>
              </a:rPr>
              <a:t>스퍼터층과</a:t>
            </a:r>
            <a:r>
              <a:rPr lang="ko-KR" altLang="en-US" sz="1200" dirty="0">
                <a:latin typeface="+mn-ea"/>
              </a:rPr>
              <a:t>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및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중앙부에서 완전히 연결되지 않고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스퍼터층</a:t>
            </a:r>
            <a:r>
              <a:rPr lang="ko-KR" altLang="en-US" sz="1200" dirty="0">
                <a:latin typeface="+mn-ea"/>
              </a:rPr>
              <a:t> 사이에 금속층이 매우 얇거나 불연속적으로 형성된 중앙영역이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기판에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도금용 촉매를 부여하고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실시한다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위에서 성장하는 동시에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불연속적이거나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미증착된</a:t>
            </a:r>
            <a:r>
              <a:rPr lang="ko-KR" altLang="en-US" sz="1200" b="1" u="sng" dirty="0">
                <a:latin typeface="+mn-ea"/>
              </a:rPr>
              <a:t> 비아 중앙영역을 </a:t>
            </a:r>
            <a:r>
              <a:rPr lang="ko-KR" altLang="en-US" sz="1200" b="1" u="sng" dirty="0" err="1">
                <a:latin typeface="+mn-ea"/>
              </a:rPr>
              <a:t>금속화한다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이에 따라 제</a:t>
            </a:r>
            <a:r>
              <a:rPr lang="en-US" altLang="ko-KR" sz="1200" b="1" u="sng" dirty="0">
                <a:latin typeface="+mn-ea"/>
              </a:rPr>
              <a:t>1 </a:t>
            </a:r>
            <a:r>
              <a:rPr lang="ko-KR" altLang="en-US" sz="1200" b="1" u="sng" dirty="0" err="1">
                <a:latin typeface="+mn-ea"/>
              </a:rPr>
              <a:t>스퍼터층과</a:t>
            </a:r>
            <a:r>
              <a:rPr lang="ko-KR" altLang="en-US" sz="1200" b="1" u="sng" dirty="0">
                <a:latin typeface="+mn-ea"/>
              </a:rPr>
              <a:t> 제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층을 통해 전기적으로 연결되어 비아 전체에 연속적인 복합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/>
              <a:t> </a:t>
            </a:r>
            <a:r>
              <a:rPr lang="ko-KR" altLang="en-US" sz="1200" dirty="0" err="1"/>
              <a:t>무전해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층은 </a:t>
            </a:r>
            <a:r>
              <a:rPr lang="ko-KR" altLang="en-US" sz="1200" dirty="0" err="1"/>
              <a:t>스퍼터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층이 불연속적으로 형성되거나 </a:t>
            </a:r>
            <a:r>
              <a:rPr lang="ko-KR" altLang="en-US" sz="1200" dirty="0" err="1"/>
              <a:t>미증착된</a:t>
            </a:r>
            <a:r>
              <a:rPr lang="ko-KR" altLang="en-US" sz="1200" dirty="0"/>
              <a:t> 비아 중앙영역의 벽면에 </a:t>
            </a:r>
            <a:r>
              <a:rPr lang="en-US" altLang="ko-KR" sz="1200" dirty="0"/>
              <a:t>30 nm~2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바람직하게는 </a:t>
            </a:r>
            <a:r>
              <a:rPr lang="en-US" altLang="ko-KR" sz="1200" dirty="0"/>
              <a:t>0.1~1.0 </a:t>
            </a:r>
            <a:r>
              <a:rPr lang="en-US" altLang="ko-KR" sz="1200" dirty="0" err="1"/>
              <a:t>μm</a:t>
            </a:r>
            <a:r>
              <a:rPr lang="en-US" altLang="ko-KR" sz="1200" dirty="0"/>
              <a:t>, </a:t>
            </a:r>
            <a:r>
              <a:rPr lang="ko-KR" altLang="en-US" sz="1200" dirty="0"/>
              <a:t>더욱 바람직하게는 </a:t>
            </a:r>
            <a:r>
              <a:rPr lang="en-US" altLang="ko-KR" sz="1200" dirty="0"/>
              <a:t>0.2~0.8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형성한다</a:t>
            </a:r>
            <a:r>
              <a:rPr lang="en-US" altLang="ko-KR" sz="1200" dirty="0"/>
              <a:t>. </a:t>
            </a:r>
            <a:r>
              <a:rPr lang="ko-KR" altLang="en-US" sz="1200" b="1" u="sng" dirty="0"/>
              <a:t>상기 </a:t>
            </a:r>
            <a:r>
              <a:rPr lang="ko-KR" altLang="en-US" sz="1200" b="1" u="sng" dirty="0" err="1"/>
              <a:t>무전해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층은 비아 내부를 </a:t>
            </a:r>
            <a:r>
              <a:rPr lang="ko-KR" altLang="en-US" sz="1200" b="1" u="sng" dirty="0" err="1"/>
              <a:t>충진하지</a:t>
            </a:r>
            <a:r>
              <a:rPr lang="ko-KR" altLang="en-US" sz="1200" b="1" u="sng" dirty="0"/>
              <a:t> 않고 양측 </a:t>
            </a:r>
            <a:r>
              <a:rPr lang="ko-KR" altLang="en-US" sz="1200" b="1" u="sng" dirty="0" err="1"/>
              <a:t>스퍼터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층을 전기적으로 연결하는 연속적인 벽면 </a:t>
            </a:r>
            <a:r>
              <a:rPr lang="ko-KR" altLang="en-US" sz="1200" b="1" u="sng" dirty="0" err="1"/>
              <a:t>씨드층으로</a:t>
            </a:r>
            <a:r>
              <a:rPr lang="ko-KR" altLang="en-US" sz="1200" b="1" u="sng" dirty="0"/>
              <a:t> 작용하며</a:t>
            </a:r>
            <a:r>
              <a:rPr lang="en-US" altLang="ko-KR" sz="1200" b="1" u="sng" dirty="0"/>
              <a:t> </a:t>
            </a:r>
            <a:r>
              <a:rPr lang="ko-KR" altLang="en-US" sz="1200" b="1" u="sng" dirty="0">
                <a:latin typeface="+mn-ea"/>
              </a:rPr>
              <a:t>비아 중앙영역을 덮을 뿐만 아니라 양측의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 일정 길이 이상 중첩되도록 형성하여 전기적 연결성과 계면신뢰성을 향상시킨다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마지막으로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층으로 이루어진 복합 </a:t>
            </a:r>
            <a:r>
              <a:rPr lang="ko-KR" altLang="en-US" sz="1200" dirty="0" err="1">
                <a:latin typeface="+mn-ea"/>
              </a:rPr>
              <a:t>씨드층에</a:t>
            </a:r>
            <a:r>
              <a:rPr lang="ko-KR" altLang="en-US" sz="1200" dirty="0">
                <a:latin typeface="+mn-ea"/>
              </a:rPr>
              <a:t> 전류를 인가하여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실시하고 비아를 구리로 완전히 </a:t>
            </a:r>
            <a:r>
              <a:rPr lang="ko-KR" altLang="en-US" sz="1200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후에는 기판 양면에 과도하게 형성된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를 </a:t>
            </a:r>
            <a:r>
              <a:rPr lang="en-US" altLang="ko-KR" sz="1200" dirty="0">
                <a:latin typeface="+mn-ea"/>
              </a:rPr>
              <a:t>CMP </a:t>
            </a:r>
            <a:r>
              <a:rPr lang="ko-KR" altLang="en-US" sz="1200" dirty="0">
                <a:latin typeface="+mn-ea"/>
              </a:rPr>
              <a:t>또는 연마 공정으로 제거하여 평탄한 </a:t>
            </a:r>
            <a:r>
              <a:rPr lang="en-US" altLang="ko-KR" sz="1200" dirty="0">
                <a:latin typeface="+mn-ea"/>
              </a:rPr>
              <a:t>TGV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TCV </a:t>
            </a:r>
            <a:r>
              <a:rPr lang="ko-KR" altLang="en-US" sz="1200" dirty="0">
                <a:latin typeface="+mn-ea"/>
              </a:rPr>
              <a:t>전극을 형성한다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39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7C299-3886-4BB4-9720-2AA96AC4B192}"/>
              </a:ext>
            </a:extLst>
          </p:cNvPr>
          <p:cNvSpPr/>
          <p:nvPr/>
        </p:nvSpPr>
        <p:spPr>
          <a:xfrm>
            <a:off x="179621" y="1021370"/>
            <a:ext cx="8954854" cy="54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기술적 특징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발명의 </a:t>
            </a:r>
            <a:r>
              <a:rPr lang="ko-KR" altLang="en-US" sz="1200" b="1" u="sng" dirty="0">
                <a:latin typeface="+mn-ea"/>
              </a:rPr>
              <a:t>첫 번째 특징은 </a:t>
            </a:r>
            <a:r>
              <a:rPr lang="ko-KR" altLang="en-US" sz="1200" b="1" u="sng" dirty="0" err="1">
                <a:latin typeface="+mn-ea"/>
              </a:rPr>
              <a:t>스퍼터링과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도금이 비아 깊이 방향에서 서로 다른 기능을 담당하는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비아 입구 인접영역에는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형성하여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입자의 </a:t>
            </a:r>
            <a:r>
              <a:rPr lang="ko-KR" altLang="en-US" sz="1200" dirty="0" err="1">
                <a:latin typeface="+mn-ea"/>
              </a:rPr>
              <a:t>도달량이</a:t>
            </a:r>
            <a:r>
              <a:rPr lang="ko-KR" altLang="en-US" sz="1200" dirty="0">
                <a:latin typeface="+mn-ea"/>
              </a:rPr>
              <a:t> 감소하는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층을 형성하여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박막부와 </a:t>
            </a:r>
            <a:r>
              <a:rPr lang="ko-KR" altLang="en-US" sz="1200" dirty="0" err="1">
                <a:latin typeface="+mn-ea"/>
              </a:rPr>
              <a:t>미증착</a:t>
            </a:r>
            <a:r>
              <a:rPr lang="ko-KR" altLang="en-US" sz="1200" dirty="0">
                <a:latin typeface="+mn-ea"/>
              </a:rPr>
              <a:t> 영역을 연결한다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이때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비아를 </a:t>
            </a:r>
            <a:r>
              <a:rPr lang="ko-KR" altLang="en-US" sz="1200" dirty="0" err="1">
                <a:latin typeface="+mn-ea"/>
              </a:rPr>
              <a:t>충진하는</a:t>
            </a:r>
            <a:r>
              <a:rPr lang="ko-KR" altLang="en-US" sz="1200" dirty="0">
                <a:latin typeface="+mn-ea"/>
              </a:rPr>
              <a:t> 것이 아니라 중앙부 벽면에 형성되는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내부의 실질적인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충진은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의해 이루어진다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 두 번째 특징은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비아 중앙부에 연속적인 금속막이 관찰되지 않더라도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형성된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비연속적인 금속 핵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극박막</a:t>
            </a:r>
            <a:r>
              <a:rPr lang="ko-KR" altLang="en-US" sz="1200" b="1" u="sng" dirty="0">
                <a:latin typeface="+mn-ea"/>
              </a:rPr>
              <a:t> 또는 표면 활성영역을 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도금에 활용</a:t>
            </a:r>
            <a:r>
              <a:rPr lang="ko-KR" altLang="en-US" sz="1200" dirty="0">
                <a:latin typeface="+mn-ea"/>
              </a:rPr>
              <a:t>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동시에 비아 중앙부의 표면에너지와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핵생성</a:t>
            </a:r>
            <a:r>
              <a:rPr lang="ko-KR" altLang="en-US" sz="1200" dirty="0">
                <a:latin typeface="+mn-ea"/>
              </a:rPr>
              <a:t> 특성을 변화시킬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초기 핵생성과 막의 연속성을 향상시킬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세 번째 특징은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비아 중앙부 벽면을 덮고 상부 및 하부의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중첩되는 연결영역을 형성하는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</a:t>
            </a:r>
            <a:r>
              <a:rPr lang="en-US" altLang="ko-KR" sz="1200" dirty="0">
                <a:latin typeface="+mn-ea"/>
              </a:rPr>
              <a:t>30 nm~2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바람직하게는 </a:t>
            </a:r>
            <a:r>
              <a:rPr lang="en-US" altLang="ko-KR" sz="1200" dirty="0">
                <a:latin typeface="+mn-ea"/>
              </a:rPr>
              <a:t>0.1~1.0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더욱 바람직하게는 </a:t>
            </a:r>
            <a:r>
              <a:rPr lang="en-US" altLang="ko-KR" sz="1200" dirty="0">
                <a:latin typeface="+mn-ea"/>
              </a:rPr>
              <a:t>0.2~0.8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중첩구조를 통해 접속저항을 낮추고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도금에서 비아 전체에 연속적인 전류 경로를 제공할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네 번째 특징은 실제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적용 결과를 근거로 </a:t>
            </a:r>
            <a:r>
              <a:rPr lang="en-US" altLang="ko-KR" sz="1200" b="1" u="sng" dirty="0">
                <a:latin typeface="+mn-ea"/>
              </a:rPr>
              <a:t>Aspect Ratio 3</a:t>
            </a:r>
            <a:r>
              <a:rPr lang="ko-KR" altLang="en-US" sz="1200" b="1" u="sng" dirty="0">
                <a:latin typeface="+mn-ea"/>
              </a:rPr>
              <a:t>을 공정 전환 기준으로 설정한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발명자는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기판에 일측 개구부 직경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및 타측 개구부 직경 </a:t>
            </a:r>
            <a:r>
              <a:rPr lang="en-US" altLang="ko-KR" sz="1200" dirty="0">
                <a:latin typeface="+mn-ea"/>
              </a:rPr>
              <a:t>120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비아를 형성하고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실시하였다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를 기준으로 산출한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2.5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 조건에서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사용할 수 있는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형성되는 것을 확인하였다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상기 결과와 </a:t>
            </a:r>
            <a:r>
              <a:rPr lang="ko-KR" altLang="en-US" sz="1200" b="1" u="sng" dirty="0" err="1">
                <a:latin typeface="+mn-ea"/>
              </a:rPr>
              <a:t>공정편차를</a:t>
            </a:r>
            <a:r>
              <a:rPr lang="ko-KR" altLang="en-US" sz="1200" b="1" u="sng" dirty="0">
                <a:latin typeface="+mn-ea"/>
              </a:rPr>
              <a:t> 고려하여</a:t>
            </a:r>
            <a:r>
              <a:rPr lang="en-US" altLang="ko-KR" sz="1200" b="1" u="sng" dirty="0">
                <a:latin typeface="+mn-ea"/>
              </a:rPr>
              <a:t>,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미만인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u="sng" dirty="0">
                <a:latin typeface="+mn-ea"/>
              </a:rPr>
              <a:t>.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이상인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중앙부 벽면을 보완하고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dirty="0" err="1">
                <a:latin typeface="+mn-ea"/>
              </a:rPr>
              <a:t>저종횡비</a:t>
            </a:r>
            <a:r>
              <a:rPr lang="ko-KR" altLang="en-US" sz="1200" dirty="0">
                <a:latin typeface="+mn-ea"/>
              </a:rPr>
              <a:t> 비아에서는 불필요한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공정을 생략하고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접착력과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중앙부 피복성을 결합하여 안정적인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구조를 형성할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2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9432E-3670-4213-A6F0-C8D53C495B39}"/>
              </a:ext>
            </a:extLst>
          </p:cNvPr>
          <p:cNvSpPr/>
          <p:nvPr/>
        </p:nvSpPr>
        <p:spPr>
          <a:xfrm>
            <a:off x="176784" y="1219550"/>
            <a:ext cx="8645428" cy="490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>
                <a:latin typeface="+mn-ea"/>
              </a:rPr>
              <a:t>기대효과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본 발명은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이용하여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비아의 중앙부에서 발생하는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저피복</a:t>
            </a:r>
            <a:r>
              <a:rPr lang="ko-KR" altLang="en-US" sz="1200" b="1" u="sng" dirty="0">
                <a:latin typeface="+mn-ea"/>
              </a:rPr>
              <a:t> 및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영역을 얇은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층으로 보완할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특히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비아에서 </a:t>
            </a:r>
            <a:r>
              <a:rPr lang="en-US" altLang="ko-KR" sz="1200" dirty="0">
                <a:latin typeface="+mn-ea"/>
              </a:rPr>
              <a:t>Aspect Ratio 2.5</a:t>
            </a:r>
            <a:r>
              <a:rPr lang="ko-KR" altLang="en-US" sz="1200" dirty="0">
                <a:latin typeface="+mn-ea"/>
              </a:rPr>
              <a:t>까지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씨드층의</a:t>
            </a:r>
            <a:r>
              <a:rPr lang="ko-KR" altLang="en-US" sz="1200" dirty="0">
                <a:latin typeface="+mn-ea"/>
              </a:rPr>
              <a:t> 형성을 확인한 결과를 바탕으로</a:t>
            </a:r>
            <a:r>
              <a:rPr lang="en-US" altLang="ko-KR" sz="1200" dirty="0">
                <a:latin typeface="+mn-ea"/>
              </a:rPr>
              <a:t>, Aspect Ratio 3</a:t>
            </a:r>
            <a:r>
              <a:rPr lang="ko-KR" altLang="en-US" sz="1200" dirty="0">
                <a:latin typeface="+mn-ea"/>
              </a:rPr>
              <a:t>을 공정 전환 기준으로 설정하였다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미만인 경우에는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공정을 생략하여 공정시간과 제조비용을 절감하고</a:t>
            </a:r>
            <a:r>
              <a:rPr lang="en-US" altLang="ko-KR" sz="1200" dirty="0">
                <a:latin typeface="+mn-ea"/>
              </a:rPr>
              <a:t>, 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이상인 경우에는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하이브리드 공정을 적용하여 안정적인 비아 금속화가 가능하다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 내부를 </a:t>
            </a:r>
            <a:r>
              <a:rPr lang="ko-KR" altLang="en-US" sz="1200" dirty="0" err="1">
                <a:latin typeface="+mn-ea"/>
              </a:rPr>
              <a:t>충진하지</a:t>
            </a:r>
            <a:r>
              <a:rPr lang="ko-KR" altLang="en-US" sz="1200" dirty="0">
                <a:latin typeface="+mn-ea"/>
              </a:rPr>
              <a:t> 않고 중앙부 벽면의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불연속 영역을 연결하는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층이 중첩된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형성하여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연속적인 전류 경로를 확보하고</a:t>
            </a:r>
            <a:r>
              <a:rPr lang="en-US" altLang="ko-KR" sz="1200" dirty="0">
                <a:latin typeface="+mn-ea"/>
              </a:rPr>
              <a:t>, Cu </a:t>
            </a:r>
            <a:r>
              <a:rPr lang="ko-KR" altLang="en-US" sz="1200" dirty="0">
                <a:latin typeface="+mn-ea"/>
              </a:rPr>
              <a:t>충진 과정에서 발생할 수 있는 </a:t>
            </a:r>
            <a:r>
              <a:rPr lang="ko-KR" altLang="en-US" sz="1200" dirty="0" err="1">
                <a:latin typeface="+mn-ea"/>
              </a:rPr>
              <a:t>보이드</a:t>
            </a:r>
            <a:r>
              <a:rPr lang="en-US" altLang="ko-KR" sz="1200" dirty="0">
                <a:latin typeface="+mn-ea"/>
              </a:rPr>
              <a:t>(Void), </a:t>
            </a:r>
            <a:r>
              <a:rPr lang="ko-KR" altLang="en-US" sz="1200" dirty="0">
                <a:latin typeface="+mn-ea"/>
              </a:rPr>
              <a:t>심</a:t>
            </a:r>
            <a:r>
              <a:rPr lang="en-US" altLang="ko-KR" sz="1200" dirty="0">
                <a:latin typeface="+mn-ea"/>
              </a:rPr>
              <a:t>(Seam)</a:t>
            </a:r>
            <a:r>
              <a:rPr lang="ko-KR" altLang="en-US" sz="1200" dirty="0">
                <a:latin typeface="+mn-ea"/>
              </a:rPr>
              <a:t> 및 국부적인 </a:t>
            </a:r>
            <a:r>
              <a:rPr lang="ko-KR" altLang="en-US" sz="1200" dirty="0" err="1">
                <a:latin typeface="+mn-ea"/>
              </a:rPr>
              <a:t>미도금</a:t>
            </a:r>
            <a:r>
              <a:rPr lang="ko-KR" altLang="en-US" sz="1200" dirty="0">
                <a:latin typeface="+mn-ea"/>
              </a:rPr>
              <a:t> 결함을 감소시킬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b="1" u="sng" dirty="0">
                <a:latin typeface="+mn-ea"/>
              </a:rPr>
              <a:t>유리기판의 </a:t>
            </a:r>
            <a:r>
              <a:rPr lang="en-US" altLang="ko-KR" sz="1200" b="1" u="sng" dirty="0">
                <a:latin typeface="+mn-ea"/>
              </a:rPr>
              <a:t>TGV</a:t>
            </a:r>
            <a:r>
              <a:rPr lang="ko-KR" altLang="en-US" sz="1200" b="1" u="sng" dirty="0">
                <a:latin typeface="+mn-ea"/>
              </a:rPr>
              <a:t>뿐만 아니라 </a:t>
            </a:r>
            <a:r>
              <a:rPr lang="en-US" altLang="ko-KR" sz="1200" b="1" u="sng" dirty="0" err="1">
                <a:latin typeface="+mn-ea"/>
              </a:rPr>
              <a:t>Si₃N</a:t>
            </a:r>
            <a:r>
              <a:rPr lang="en-US" altLang="ko-KR" sz="1200" b="1" u="sng" dirty="0">
                <a:latin typeface="+mn-ea"/>
              </a:rPr>
              <a:t>₄, </a:t>
            </a:r>
            <a:r>
              <a:rPr lang="en-US" altLang="ko-KR" sz="1200" b="1" u="sng" dirty="0" err="1">
                <a:latin typeface="+mn-ea"/>
              </a:rPr>
              <a:t>AlN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 err="1">
                <a:latin typeface="+mn-ea"/>
              </a:rPr>
              <a:t>Al₂O</a:t>
            </a:r>
            <a:r>
              <a:rPr lang="en-US" altLang="ko-KR" sz="1200" b="1" u="sng" dirty="0">
                <a:latin typeface="+mn-ea"/>
              </a:rPr>
              <a:t>₃ </a:t>
            </a:r>
            <a:r>
              <a:rPr lang="ko-KR" altLang="en-US" sz="1200" b="1" u="sng" dirty="0">
                <a:latin typeface="+mn-ea"/>
              </a:rPr>
              <a:t>등의 세라믹기판에 형성된 </a:t>
            </a:r>
            <a:r>
              <a:rPr lang="en-US" altLang="ko-KR" sz="1200" b="1" u="sng" dirty="0">
                <a:latin typeface="+mn-ea"/>
              </a:rPr>
              <a:t>TCV</a:t>
            </a:r>
            <a:r>
              <a:rPr lang="ko-KR" altLang="en-US" sz="1200" b="1" u="sng" dirty="0">
                <a:latin typeface="+mn-ea"/>
              </a:rPr>
              <a:t>에도 적용할 수 있으며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고접착력</a:t>
            </a:r>
            <a:r>
              <a:rPr lang="ko-KR" altLang="en-US" sz="1200" b="1" u="sng" dirty="0">
                <a:latin typeface="+mn-ea"/>
              </a:rPr>
              <a:t> 및 고신뢰성이 요구되는 반도체 </a:t>
            </a:r>
            <a:r>
              <a:rPr lang="ko-KR" altLang="en-US" sz="1200" b="1" u="sng" dirty="0" err="1">
                <a:latin typeface="+mn-ea"/>
              </a:rPr>
              <a:t>인터포저와</a:t>
            </a:r>
            <a:r>
              <a:rPr lang="ko-KR" altLang="en-US" sz="1200" b="1" u="sng" dirty="0">
                <a:latin typeface="+mn-ea"/>
              </a:rPr>
              <a:t> 고밀도 패키지 기판의 관통 전극 형성에 유용하게 적용</a:t>
            </a:r>
            <a:r>
              <a:rPr lang="ko-KR" altLang="en-US" sz="1200" dirty="0">
                <a:latin typeface="+mn-ea"/>
              </a:rPr>
              <a:t>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93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accent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44485</TotalTime>
  <Words>1546</Words>
  <Application>Microsoft Office PowerPoint</Application>
  <PresentationFormat>화면 슬라이드 쇼(4:3)</PresentationFormat>
  <Paragraphs>70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휴먼모음T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이지형</dc:creator>
  <cp:lastModifiedBy>성백 단</cp:lastModifiedBy>
  <cp:revision>2150</cp:revision>
  <cp:lastPrinted>2026-06-23T05:03:53Z</cp:lastPrinted>
  <dcterms:created xsi:type="dcterms:W3CDTF">2019-10-25T07:38:35Z</dcterms:created>
  <dcterms:modified xsi:type="dcterms:W3CDTF">2026-08-21T05:16:15Z</dcterms:modified>
</cp:coreProperties>
</file>
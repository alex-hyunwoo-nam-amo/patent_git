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04088" cy="420624"/>
          </a:xfrm>
          <a:prstGeom prst="roundRect">
            <a:avLst>
              <a:gd name="adj" fmla="val 17391"/>
            </a:avLst>
          </a:prstGeom>
          <a:solidFill>
            <a:srgbClr val="808285"/>
          </a:solidFill>
          <a:ln w="12700">
            <a:solidFill>
              <a:srgbClr val="808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04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안내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35608" y="347472"/>
            <a:ext cx="9015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직무발명 신고서 — 작성 안내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" y="1170432"/>
            <a:ext cx="534924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제출 절차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91072" y="1170432"/>
            <a:ext cx="5349240" cy="2633472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47104" y="1335024"/>
            <a:ext cx="48371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작성 원칙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47104" y="1682496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" y="1847088"/>
            <a:ext cx="483717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1.  2면과 3면을 작성합니다. 이 두 면은 필수입니다.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2.  4면 다음부터 기술 내용을 자유 서식으로 작성합니다.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이미 만들어 두신 발표자료를 그대로 붙여 넣으셔도 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3.  공동발명자 전원이 내용을 확인하고 3면에 서명합니다.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4.  4면의 안내 문구는 제출하실 때 삭제하셔도 됩니다.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5.  5면은 회사 기재란이므로 비워 둔 채 제출하십시오.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6.  작성한 파일을 기획조정실 기술법무팀으로 보내 주십시오.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47104" y="1847088"/>
            <a:ext cx="4837176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1.  일반적인 기술용어를 씁니다. 사내 약어는 최초 1회에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     전체 명칭을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2.  같은 구성요소는 문서 전체에서 같은 용어로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3.  필수 구성, 구성 간 관계, 작동원리, 효과를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4.  대체 구성·재료·수치범위·예외 조건을 함께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5.  특허·논문·고객 자료를 인용하면 출처를 적습니다.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6.  확인되지 않은 수치와 효과는 적지 않습니다.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986784"/>
            <a:ext cx="11091672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CCDCE"/>
            </a:solidFill>
            <a:prstDash val="solid"/>
          </a:ln>
          <a:effectLst>
            <a:outerShdw sx="100000" sy="100000" kx="0" ky="0" algn="bl" rotWithShape="0" blurRad="50800" dist="12700" dir="5400000">
              <a:srgbClr val="BFBFBF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04672" y="41330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제출 전 확인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4672" y="4480560"/>
            <a:ext cx="548640" cy="25603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4626864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공동발명자를 빠짐없이 적고 기여율 합계를 100 %로 맞추었습니다.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발명 완성일과 공개 이력을 적었습니다.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91072" y="4626864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국가R&amp;D 과제·외부 공동개발 해당 여부를 표시했습니다.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□  확인되지 않은 수치와 효과를 적지 않았습니다.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5669280"/>
            <a:ext cx="11091672" cy="566928"/>
          </a:xfrm>
          <a:prstGeom prst="rect">
            <a:avLst/>
          </a:prstGeom>
          <a:solidFill>
            <a:srgbClr val="003464"/>
          </a:solidFill>
          <a:ln w="12700">
            <a:solidFill>
              <a:srgbClr val="00346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566928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직무발명을 완성한 종업원은 지체 없이 그 사실을 회사에 문서로 알려야 합니다(발명진흥법 제12조). </a:t>
            </a:r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회사는 신고서를 받은 날부터 4개월 이내에 승계 여부를 문서로 알립니다(같은 법 제13조 제1항, 시행령 제7조).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291072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출원 전에 논문·학회·전시회·고객 제공 등으로 발명을 공개하면 신규성을 잃을 수 있습니다. 공개 계획이 있으면 제출 시 반드시 알려 주십시오.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필수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76272" y="34747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신고 기본사항 및 발명자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2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931920"/>
                <a:gridCol w="141732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발명의 명칭(국문)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고종횡비 관통 비아의 하이브리드 구리 충진 방법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 법인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(주)아모텍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 완성일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2026-08-21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 구분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 직무발명 완성사실 신고        □  아이디어 사전검토 요청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발명 완성도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착상    □ 실험 진행    □ 시제품 확보    □ 양산 적용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관련 제품·적용처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유리/세라믹 기판 TGV·TCV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출원 희망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국내    □ PCT·해외 (                    )    □ 노하우 보유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914400"/>
                <a:gridCol w="2788920"/>
                <a:gridCol w="868680"/>
                <a:gridCol w="2496312"/>
                <a:gridCol w="8229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구분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성명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사번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소속 법인·부서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직위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회사 이메일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기여율(%)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서명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8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대표발명자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단성백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기술연구소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이사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sbdan@amotech.co.kr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>100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②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③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공동발명자 ④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 gridSpan="6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기여율 합계는 100 %가 되도록 적습니다. 발명에 실질적으로 기여하지 않은 사람은 발명자로 적지 않습니다.</a:t>
                      </a:r>
                      <a:endParaRPr lang="en-US" sz="8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100</a:t>
                      </a:r>
                      <a:endParaRPr lang="en-US" sz="900" dirty="0">
                        <a:latin typeface="나눔스퀘어 ExtraBold" charset="0"/>
                        <a:ea typeface="나눔스퀘어 ExtraBold" charset="0"/>
                        <a:cs typeface="나눔스퀘어 ExtraBold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3500" marR="63500" marT="38100" marB="38100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53712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74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국가R&amp;D 과제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해당 없음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외부 공동개발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없음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공개 이력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미공개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48640" y="5797296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국가R&amp;D 과제에서 도출된 발명은 국가연구개발혁신법에 따른 연구개발성과 소유·신고 절차가 함께 적용됩니다. 해당 여부를 반드시 표시해 주십시오.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48640" y="6053328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사전검토 요청은 발명진흥법 제12조의 완성사실 통지가 아닙니다. 완성된 발명은 「완성사실 신고」로 제출해 주십시오.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44752" cy="420624"/>
          </a:xfrm>
          <a:prstGeom prst="roundRect">
            <a:avLst>
              <a:gd name="adj" fmla="val 17391"/>
            </a:avLst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필수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76272" y="34747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발명의 요지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3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1. 기술분야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적용 제품·공정·시스템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반도체 유리/세라믹 기판 관통비아 도금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2. 종래기술과 문제점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가장 가까운 선행자료와 출처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부도체 기판 씨드층 형성 곤란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3. 해결하려는 과제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무엇을 얼마나 개선하는지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고종횡비 비아 보이드 없는 충진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4. 핵심 구성과 작동원리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필수 구성요소와 구성 간 관계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Ti-Cu 스퍼터+무전해+전해 하이브리드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5. 종래기술 대비 효과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정량 데이터가 있으면 함께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t>계면접착력 및 충진율 향상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828032"/>
            <a:ext cx="11091672" cy="640080"/>
          </a:xfrm>
          <a:prstGeom prst="rect">
            <a:avLst/>
          </a:prstGeom>
          <a:solidFill>
            <a:srgbClr val="D9E4EE"/>
          </a:solidFill>
          <a:ln w="12700">
            <a:solidFill>
              <a:srgbClr val="CCCD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4828032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464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【 확 인 】 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본인(들)은 위 발명이 직무와 관련하여 완성된 발명임을 확인하고, 발명진흥법 제12조에 따라 그 완성 사실을 회사에 통지합니다. 기재 내용이 사실과 다르지 않음을 확인하며, 회사의 승계 여부 통지 전까지 발명 내용을 사외에 공개하지 않겠습니다.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96128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920240"/>
                <a:gridCol w="1325880"/>
                <a:gridCol w="2331720"/>
                <a:gridCol w="132588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신고일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대표발명자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(서명)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부서장 확인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(서명)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548640" y="6126480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이 면 다음부터 기술 내용을 자유 서식으로 작성해 주십시오. 요지에 다 담기지 않은 내용은 뒤에 이어서 적으시면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74420" cy="420624"/>
          </a:xfrm>
          <a:prstGeom prst="roundRect">
            <a:avLst>
              <a:gd name="adj" fmla="val 17391"/>
            </a:avLst>
          </a:prstGeom>
          <a:solidFill>
            <a:srgbClr val="808285"/>
          </a:solidFill>
          <a:ln w="12700">
            <a:solidFill>
              <a:srgbClr val="8082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744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회사 기재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05940" y="347472"/>
            <a:ext cx="86456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A8F"/>
                </a:solidFill>
                <a:latin typeface="나눔스퀘어 ExtraBold" pitchFamily="34" charset="0"/>
                <a:ea typeface="나눔스퀘어 ExtraBold" pitchFamily="34" charset="-122"/>
                <a:cs typeface="나눔스퀘어 ExtraBold" pitchFamily="34" charset="-120"/>
              </a:rPr>
              <a:t>기술법무팀 접수 · 검토란 (발명자 기재 금지)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932688"/>
            <a:ext cx="960120" cy="29261"/>
          </a:xfrm>
          <a:prstGeom prst="rect">
            <a:avLst/>
          </a:prstGeom>
          <a:solidFill>
            <a:srgbClr val="004A8F"/>
          </a:solidFill>
          <a:ln w="12700">
            <a:solidFill>
              <a:srgbClr val="004A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912" y="945490"/>
            <a:ext cx="10058400" cy="7315"/>
          </a:xfrm>
          <a:prstGeom prst="rect">
            <a:avLst/>
          </a:prstGeom>
          <a:solidFill>
            <a:srgbClr val="CCCDCE"/>
          </a:solidFill>
          <a:ln w="12700">
            <a:solidFill>
              <a:srgbClr val="CCCDCE"/>
            </a:solidFill>
            <a:prstDash val="solid"/>
          </a:ln>
        </p:spPr>
      </p:sp>
      <p:pic>
        <p:nvPicPr>
          <p:cNvPr id="7" name="Image 0" descr="am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329184"/>
            <a:ext cx="969264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6547104"/>
            <a:ext cx="121916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5 / 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720072" y="654710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65471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AMO그룹 기획조정실 기술법무팀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52144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31720"/>
                <a:gridCol w="1554480"/>
                <a:gridCol w="2331720"/>
                <a:gridCol w="1554480"/>
                <a:gridCol w="17647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접수번호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회사 수령일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담당자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승계 통지 기한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수령일 + 4개월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통지일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통지 문서번호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66544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선행기술 조사 결과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검색식 · 조사일 · 주요 문헌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특허성 검토 의견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신규성 · 진보성 · 기재 보완사항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영업비밀 유지 검토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808285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출원과 노하우 보유의 비교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90288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30859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처리 결정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나눔스퀘어" pitchFamily="34" charset="0"/>
                          <a:ea typeface="나눔스퀘어" pitchFamily="34" charset="-122"/>
                          <a:cs typeface="나눔스퀘어" pitchFamily="34" charset="-120"/>
                        </a:rPr>
                        <a:t>□ 승계 · 국내출원      □ 승계 · PCT/해외출원      □ 승계 · 노하우 보유      □ 승계 후 출원 보류      □ 불승계</a:t>
                      </a: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3464"/>
                          </a:solidFill>
                          <a:latin typeface="나눔스퀘어 ExtraBold" pitchFamily="34" charset="0"/>
                          <a:ea typeface="나눔스퀘어 ExtraBold" pitchFamily="34" charset="-122"/>
                          <a:cs typeface="나눔스퀘어 ExtraBold" pitchFamily="34" charset="-120"/>
                        </a:rPr>
                        <a:t>결정일 · 결재문서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나눔스퀘어" charset="0"/>
                        <a:ea typeface="나눔스퀘어" charset="0"/>
                        <a:cs typeface="나눔스퀘어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D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548640" y="5504688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승계 여부는 신고서를 받은 날부터 4개월 이내에 문서로 통지합니다(발명진흥법 제13조 제1항, 같은 법 시행령 제7조).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548640" y="5760720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승계 후 출원을 보류하거나 노하우로 보유하는 경우에도 정당한 보상 의무는 유지됩니다(같은 법 제15조, 제16조).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548640" y="6016752"/>
            <a:ext cx="11091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08285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※ 「회사 수령일」은 승계 통지 기한의 기산점이므로 접수 즉시 기재합니다.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AMO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직무발명 신고서 표준 양식</dc:title>
  <dc:subject>PptxGenJS Presentation</dc:subject>
  <dc:creator>AMO그룹 기획조정실 기술법무팀</dc:creator>
  <cp:lastModifiedBy>AMO그룹 기획조정실 기술법무팀</cp:lastModifiedBy>
  <cp:revision>1</cp:revision>
  <dcterms:created xsi:type="dcterms:W3CDTF">2026-09-02T02:35:57Z</dcterms:created>
  <dcterms:modified xsi:type="dcterms:W3CDTF">2026-09-02T02:35:57Z</dcterms:modified>
</cp:coreProperties>
</file>